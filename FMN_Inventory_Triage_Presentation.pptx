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1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B2118"/>
                </a:solidFill>
                <a:latin typeface="Arial"/>
              </a:defRPr>
            </a:pPr>
            <a:r>
              <a:rPr lang="en-US" sz="1400" b="0" i="0" u="none" strike="noStrike">
                <a:solidFill>
                  <a:srgbClr val="2B2118"/>
                </a:solidFill>
                <a:latin typeface="Arial"/>
              </a:rPr>
              <a:t>Held-out test WAPE by model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WAPE (%)</c:v>
                </c:pt>
              </c:strCache>
            </c:strRef>
          </c:tx>
          <c:spPr>
            <a:solidFill>
              <a:srgbClr val="3E5B6D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ED6-44D1-9CCB-84A791A971AB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6ED6-44D1-9CCB-84A791A971AB}"/>
              </c:ext>
            </c:extLst>
          </c:dPt>
          <c:dPt>
            <c:idx val="2"/>
            <c:invertIfNegative val="0"/>
            <c:bubble3D val="0"/>
            <c:spPr>
              <a:solidFill>
                <a:srgbClr val="6B655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6ED6-44D1-9CCB-84A791A971AB}"/>
              </c:ext>
            </c:extLst>
          </c:dPt>
          <c:dPt>
            <c:idx val="3"/>
            <c:invertIfNegative val="0"/>
            <c:bubble3D val="0"/>
            <c:spPr>
              <a:solidFill>
                <a:srgbClr val="6B655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6ED6-44D1-9CCB-84A791A971AB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B2118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LightGBM
(tuned)</c:v>
                </c:pt>
                <c:pt idx="1">
                  <c:v>CatBoost
(tuned)</c:v>
                </c:pt>
                <c:pt idx="2">
                  <c:v>XGBoost
(default)</c:v>
                </c:pt>
                <c:pt idx="3">
                  <c:v>ETS
(classical baseline)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17.899999999999999</c:v>
                </c:pt>
                <c:pt idx="1">
                  <c:v>17.899999999999999</c:v>
                </c:pt>
                <c:pt idx="2">
                  <c:v>19.2</c:v>
                </c:pt>
                <c:pt idx="3">
                  <c:v>21.5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ED6-44D1-9CCB-84A791A971A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55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12700" cap="flat">
              <a:solidFill>
                <a:srgbClr val="E5E0D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rgbClr val="000000"/>
                    </a:solidFill>
                    <a:latin typeface="Arial"/>
                  </a:rPr>
                  <a:t>WAPE (%)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655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73668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206240" cy="4206240"/>
          </a:xfrm>
          <a:prstGeom prst="ellipse">
            <a:avLst/>
          </a:prstGeom>
          <a:solidFill>
            <a:srgbClr val="3A2C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607040" y="5120640"/>
            <a:ext cx="2743200" cy="2743200"/>
          </a:xfrm>
          <a:prstGeom prst="ellipse">
            <a:avLst/>
          </a:prstGeom>
          <a:solidFill>
            <a:srgbClr val="C89B3C">
              <a:alpha val="1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FLOUR MILLS OF NIGERIA  ·  SUPPLY CHAIN ANALYTICS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37744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Inventory Triage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6118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D8C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demand and flagging risk per SKU — before it becomes a problem.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64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FRAMING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B21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Problem, In the Sponsor's Words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86400" cy="4480560"/>
          </a:xfrm>
          <a:prstGeom prst="roundRect">
            <a:avLst>
              <a:gd name="adj" fmla="val 1633"/>
            </a:avLst>
          </a:prstGeom>
          <a:solidFill>
            <a:srgbClr val="F3EF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777240" y="17830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1460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900" i="1" dirty="0">
                <a:solidFill>
                  <a:srgbClr val="2B21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keep getting caught off guard — some SKUs run out and delay production, others sit overstocked and tie up working capital. I don't have anything today that tells me, ahead of time, which SKUs need attention and why.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492240" y="1828800"/>
            <a:ext cx="548640" cy="548640"/>
          </a:xfrm>
          <a:prstGeom prst="ellipse">
            <a:avLst/>
          </a:prstGeom>
          <a:solidFill>
            <a:srgbClr val="A6432B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649224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269480" y="17830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Stockouts delay production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269480" y="2176272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SKUs run out with no advance warning — production stalls waiting on inventory.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92240" y="3246120"/>
            <a:ext cx="548640" cy="548640"/>
          </a:xfrm>
          <a:prstGeom prst="ellipse">
            <a:avLst/>
          </a:prstGeom>
          <a:solidFill>
            <a:srgbClr val="3E5B6D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6492240" y="3246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7269480" y="32004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Overstock ties up capital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269480" y="3593592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Excess stock sits idle instead of freeing cash for other operations.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92240" y="4663440"/>
            <a:ext cx="548640" cy="548640"/>
          </a:xfrm>
          <a:prstGeom prst="ellipse">
            <a:avLst/>
          </a:prstGeom>
          <a:solidFill>
            <a:srgbClr val="C89B3C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649224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269480" y="46177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269480" y="5010912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self-serve tool — plain-language flags, before problems happen, not after.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64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B21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Two-Tier Architecture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24612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9050">
            <a:solidFill>
              <a:srgbClr val="3E5B6D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246120" cy="502920"/>
          </a:xfrm>
          <a:prstGeom prst="rect">
            <a:avLst/>
          </a:prstGeom>
          <a:solidFill>
            <a:srgbClr val="3E5B6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1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 Forecasting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291840"/>
            <a:ext cx="2788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30000"/>
              </a:lnSpc>
              <a:buSzPct val="100000"/>
              <a:buChar char="▪"/>
            </a:pPr>
            <a:r>
              <a:rPr lang="en-US" sz="1250" dirty="0">
                <a:solidFill>
                  <a:srgbClr val="6B6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LightGBM model across all SKUs</a:t>
            </a:r>
            <a:endParaRPr lang="en-US" sz="1250" dirty="0"/>
          </a:p>
          <a:p>
            <a:pPr marL="177800" indent="-177800">
              <a:lnSpc>
                <a:spcPct val="130000"/>
              </a:lnSpc>
              <a:buSzPct val="100000"/>
              <a:buChar char="▪"/>
            </a:pPr>
            <a:r>
              <a:rPr lang="en-US" sz="1250" dirty="0">
                <a:solidFill>
                  <a:srgbClr val="6B6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Leakage-safe lag &amp; rolling features</a:t>
            </a:r>
            <a:endParaRPr lang="en-US" sz="1250" dirty="0"/>
          </a:p>
          <a:p>
            <a:pPr marL="177800" indent="-177800">
              <a:lnSpc>
                <a:spcPct val="130000"/>
              </a:lnSpc>
              <a:buSzPct val="100000"/>
              <a:buChar char="▪"/>
            </a:pPr>
            <a:r>
              <a:rPr lang="en-US" sz="1250" dirty="0">
                <a:solidFill>
                  <a:srgbClr val="6B6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on MAE + WAPE (not RMSE)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794760" y="3223260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6B6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4434840" y="1965960"/>
            <a:ext cx="324612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9050">
            <a:solidFill>
              <a:srgbClr val="A6432B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434840" y="1965960"/>
            <a:ext cx="3246120" cy="502920"/>
          </a:xfrm>
          <a:prstGeom prst="rect">
            <a:avLst/>
          </a:prstGeom>
          <a:solidFill>
            <a:srgbClr val="A643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4434840" y="196596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65176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1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Inventory Risk Triage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291840"/>
            <a:ext cx="2788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30000"/>
              </a:lnSpc>
              <a:buSzPct val="100000"/>
              <a:buChar char="▪"/>
            </a:pPr>
            <a:r>
              <a:rPr lang="en-US" sz="1250" dirty="0">
                <a:solidFill>
                  <a:srgbClr val="6B6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— not a second model</a:t>
            </a:r>
            <a:endParaRPr lang="en-US" sz="1250" dirty="0"/>
          </a:p>
          <a:p>
            <a:pPr marL="177800" indent="-177800">
              <a:lnSpc>
                <a:spcPct val="130000"/>
              </a:lnSpc>
              <a:buSzPct val="100000"/>
              <a:buChar char="▪"/>
            </a:pPr>
            <a:r>
              <a:rPr lang="en-US" sz="1250" dirty="0">
                <a:solidFill>
                  <a:srgbClr val="6B6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ROP_days &amp; max_stock_days formulas</a:t>
            </a:r>
            <a:endParaRPr lang="en-US" sz="1250" dirty="0"/>
          </a:p>
          <a:p>
            <a:pPr marL="177800" indent="-177800">
              <a:lnSpc>
                <a:spcPct val="130000"/>
              </a:lnSpc>
              <a:buSzPct val="100000"/>
              <a:buChar char="▪"/>
            </a:pPr>
            <a:r>
              <a:rPr lang="en-US" sz="1250" dirty="0">
                <a:solidFill>
                  <a:srgbClr val="6B6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Walked forward to each SKU's lead time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3223260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6B6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8321040" y="1965960"/>
            <a:ext cx="324612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9050">
            <a:solidFill>
              <a:srgbClr val="C89B3C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321040" y="1965960"/>
            <a:ext cx="3246120" cy="502920"/>
          </a:xfrm>
          <a:prstGeom prst="rect">
            <a:avLst/>
          </a:prstGeom>
          <a:solidFill>
            <a:srgbClr val="C89B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8321040" y="196596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549640" y="265176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1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Dashboard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549640" y="3291840"/>
            <a:ext cx="2788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30000"/>
              </a:lnSpc>
              <a:buSzPct val="100000"/>
              <a:buChar char="▪"/>
            </a:pPr>
            <a:r>
              <a:rPr lang="en-US" sz="1250" dirty="0">
                <a:solidFill>
                  <a:srgbClr val="6B6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app, self-serve</a:t>
            </a:r>
            <a:endParaRPr lang="en-US" sz="1250" dirty="0"/>
          </a:p>
          <a:p>
            <a:pPr marL="177800" indent="-177800">
              <a:lnSpc>
                <a:spcPct val="130000"/>
              </a:lnSpc>
              <a:buSzPct val="100000"/>
              <a:buChar char="▪"/>
            </a:pPr>
            <a:r>
              <a:rPr lang="en-US" sz="1250" dirty="0">
                <a:solidFill>
                  <a:srgbClr val="6B6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Per-SKU forecast + plain-language flag</a:t>
            </a:r>
            <a:endParaRPr lang="en-US" sz="1250" dirty="0"/>
          </a:p>
          <a:p>
            <a:pPr marL="177800" indent="-177800">
              <a:lnSpc>
                <a:spcPct val="130000"/>
              </a:lnSpc>
              <a:buSzPct val="100000"/>
              <a:buChar char="▪"/>
            </a:pPr>
            <a:r>
              <a:rPr lang="en-US" sz="1250" dirty="0">
                <a:solidFill>
                  <a:srgbClr val="6B6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warehouse triage board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2578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3EF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822960" y="53949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Tier 2 is a rule, not a model:  </a:t>
            </a:r>
            <a:r>
              <a:rPr lang="en-US" sz="1300" dirty="0">
                <a:solidFill>
                  <a:srgbClr val="6B6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inventory_status is fully determined by known thresholds (ROP, max stock). Training a classifier on it would only reproduce the same rule with less transparency — not add predictive value.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64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SELECTION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B21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Selection — Four Approaches Compared</a:t>
            </a:r>
            <a:endParaRPr lang="en-US" sz="32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737360"/>
          <a:ext cx="694944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818120" y="1737360"/>
            <a:ext cx="3794760" cy="2331720"/>
          </a:xfrm>
          <a:prstGeom prst="roundRect">
            <a:avLst>
              <a:gd name="adj" fmla="val 3137"/>
            </a:avLst>
          </a:prstGeom>
          <a:solidFill>
            <a:srgbClr val="2B2118"/>
          </a:solidFill>
          <a:ln/>
          <a:effectLst>
            <a:outerShdw blurRad="101600" dist="38100" dir="54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8092440" y="1920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2194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LightGBM (tuned)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092440" y="2697480"/>
            <a:ext cx="3246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8C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Statistically tied with CatBoost; both clearly beat the classical baseline. Chosen as the lighter, more standard dependency.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4251960"/>
            <a:ext cx="3794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3E5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~12% relative WAPE improvement over a naive 7-day rolling-average baseline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126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ETS measured as mean per-SKU WAPE (others pooled) — directionally comparable, not exact-basis.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64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B21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Tool, In Use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0698480" cy="4846418"/>
          </a:xfrm>
          <a:prstGeom prst="roundRect">
            <a:avLst>
              <a:gd name="adj" fmla="val 943"/>
            </a:avLst>
          </a:prstGeom>
          <a:solidFill>
            <a:srgbClr val="FFFFFF"/>
          </a:solidFill>
          <a:ln w="12700">
            <a:solidFill>
              <a:srgbClr val="DDD6C4"/>
            </a:solidFill>
            <a:prstDash val="solid"/>
          </a:ln>
          <a:effectLst>
            <a:outerShdw blurRad="127000" dist="38100" dir="54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screenshot_overview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85800" y="1965960"/>
            <a:ext cx="10424160" cy="457209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6355178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 — plant-wide overview, per-SKU inspector with plain-language flag, and forward demand forecast chart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64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B21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Found — And Where We're Cautious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86400" cy="1737360"/>
          </a:xfrm>
          <a:prstGeom prst="roundRect">
            <a:avLst>
              <a:gd name="adj" fmla="val 4211"/>
            </a:avLst>
          </a:prstGeom>
          <a:solidFill>
            <a:srgbClr val="F3EF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868680" y="1828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3E5B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17.9%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06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WAPE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9260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baseline by ~12% relative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0" y="1737360"/>
            <a:ext cx="5486400" cy="1737360"/>
          </a:xfrm>
          <a:prstGeom prst="roundRect">
            <a:avLst>
              <a:gd name="adj" fmla="val 4211"/>
            </a:avLst>
          </a:prstGeom>
          <a:solidFill>
            <a:srgbClr val="F3EF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6263640" y="1828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A64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SKUs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26060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Consistently hard to forecast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9260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5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across 4 different models — a data issue, not a model-choice one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C89B3C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72160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incoming-receipts modeling — projection assumes zero restock during the forecast window (conservative, worst-case), so days-to-breach is a floor estimate, not a precise date.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572000"/>
            <a:ext cx="365760" cy="365760"/>
          </a:xfrm>
          <a:prstGeom prst="ellipse">
            <a:avLst/>
          </a:prstGeom>
          <a:solidFill>
            <a:srgbClr val="C89B3C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548640" y="4572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" y="441198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B21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hard-to-forecast SKUs are flagged in-app as lower confidence, pending a proper root-cause investigation.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B21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3840480"/>
            <a:ext cx="3840480" cy="3840480"/>
          </a:xfrm>
          <a:prstGeom prst="ellipse">
            <a:avLst/>
          </a:prstGeom>
          <a:solidFill>
            <a:srgbClr val="3A2C1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We'd Improve With More Time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84048" cy="384048"/>
          </a:xfrm>
          <a:prstGeom prst="ellipse">
            <a:avLst/>
          </a:prstGeom>
          <a:solidFill>
            <a:srgbClr val="A6432B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64008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AI-generated explanations + grounded Q&amp;A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221992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8A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and specified, not yet wired in — replaces templated flag text with LLM output grounded in each SKU's real numbers.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291840"/>
            <a:ext cx="384048" cy="384048"/>
          </a:xfrm>
          <a:prstGeom prst="ellipse">
            <a:avLst/>
          </a:prstGeom>
          <a:solidFill>
            <a:srgbClr val="A6432B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64008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2461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per-SKU confidence tracker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639312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8A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current static hard-SKU list with a live accuracy tracker that updates as new data arrives.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4709160"/>
            <a:ext cx="384048" cy="384048"/>
          </a:xfrm>
          <a:prstGeom prst="ellipse">
            <a:avLst/>
          </a:prstGeom>
          <a:solidFill>
            <a:srgbClr val="A6432B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640080" y="4709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663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incoming receipts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5056632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8A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for POs already in transit, instead of assuming zero restock through the forecast window.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63640" y="1874520"/>
            <a:ext cx="384048" cy="384048"/>
          </a:xfrm>
          <a:prstGeom prst="ellipse">
            <a:avLst/>
          </a:prstGeom>
          <a:solidFill>
            <a:srgbClr val="A6432B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26364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81228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Action-confirmation loop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6812280" y="2221992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8A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the team mark a flag as addressed, so it stops re-firing once someone has acted on it.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63640" y="3291840"/>
            <a:ext cx="384048" cy="384048"/>
          </a:xfrm>
          <a:prstGeom prst="ellipse">
            <a:avLst/>
          </a:prstGeom>
          <a:solidFill>
            <a:srgbClr val="A6432B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626364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12280" y="32461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cache refresh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6812280" y="3639312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B8A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off manual cache-clearing to a scheduled refresh for daily unattended use.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63640"/>
            <a:ext cx="10881360" cy="0"/>
          </a:xfrm>
          <a:prstGeom prst="line">
            <a:avLst/>
          </a:prstGeom>
          <a:noFill/>
          <a:ln w="12700">
            <a:solidFill>
              <a:srgbClr val="4A3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C9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Flour Mills of Nigeria — Inventory Triage Engine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570</Words>
  <Application>Microsoft Office PowerPoint</Application>
  <PresentationFormat>Widescreen</PresentationFormat>
  <Paragraphs>85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Hobs Analytics</cp:lastModifiedBy>
  <cp:revision>5</cp:revision>
  <dcterms:created xsi:type="dcterms:W3CDTF">2026-09-11T12:18:09Z</dcterms:created>
  <dcterms:modified xsi:type="dcterms:W3CDTF">2026-09-11T13:43:17Z</dcterms:modified>
</cp:coreProperties>
</file>